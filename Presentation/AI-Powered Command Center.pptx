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5BE258-9672-4093-A6CB-013D4AA8B020}">
  <a:tblStyle styleId="{FA5BE258-9672-4093-A6CB-013D4AA8B0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8.jp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5.jpg"/><Relationship Id="rId9" Type="http://schemas.openxmlformats.org/officeDocument/2006/relationships/image" Target="../media/image4.jpg"/><Relationship Id="rId5" Type="http://schemas.openxmlformats.org/officeDocument/2006/relationships/image" Target="../media/image13.png"/><Relationship Id="rId6" Type="http://schemas.openxmlformats.org/officeDocument/2006/relationships/image" Target="../media/image1.jpg"/><Relationship Id="rId7" Type="http://schemas.openxmlformats.org/officeDocument/2006/relationships/image" Target="../media/image8.jpg"/><Relationship Id="rId8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0.jpg"/><Relationship Id="rId4" Type="http://schemas.openxmlformats.org/officeDocument/2006/relationships/image" Target="../media/image3.png"/><Relationship Id="rId9" Type="http://schemas.openxmlformats.org/officeDocument/2006/relationships/image" Target="../media/image51.png"/><Relationship Id="rId5" Type="http://schemas.openxmlformats.org/officeDocument/2006/relationships/image" Target="../media/image25.jpg"/><Relationship Id="rId6" Type="http://schemas.openxmlformats.org/officeDocument/2006/relationships/image" Target="../media/image5.jpg"/><Relationship Id="rId7" Type="http://schemas.openxmlformats.org/officeDocument/2006/relationships/image" Target="../media/image2.jpg"/><Relationship Id="rId8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48.png"/><Relationship Id="rId7" Type="http://schemas.openxmlformats.org/officeDocument/2006/relationships/image" Target="../media/image26.png"/><Relationship Id="rId8" Type="http://schemas.openxmlformats.org/officeDocument/2006/relationships/image" Target="../media/image3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45.png"/><Relationship Id="rId13" Type="http://schemas.openxmlformats.org/officeDocument/2006/relationships/image" Target="../media/image35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9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38.png"/><Relationship Id="rId6" Type="http://schemas.openxmlformats.org/officeDocument/2006/relationships/image" Target="../media/image36.png"/><Relationship Id="rId7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9.png"/><Relationship Id="rId5" Type="http://schemas.openxmlformats.org/officeDocument/2006/relationships/image" Target="../media/image41.png"/><Relationship Id="rId6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ue lighthouse silhouette vector logo (Provided by Getty Images)" id="85" name="Google Shape;85;p13"/>
          <p:cNvPicPr preferRelativeResize="0"/>
          <p:nvPr/>
        </p:nvPicPr>
        <p:blipFill rotWithShape="1">
          <a:blip r:embed="rId4">
            <a:alphaModFix/>
          </a:blip>
          <a:srcRect b="9253" l="32067" r="25528" t="11658"/>
          <a:stretch/>
        </p:blipFill>
        <p:spPr>
          <a:xfrm>
            <a:off x="9162924" y="2884000"/>
            <a:ext cx="2552699" cy="3809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19947"/>
            <a:ext cx="110490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754522"/>
            <a:ext cx="4483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2357850"/>
            <a:ext cx="116205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BEACON</a:t>
            </a:r>
            <a:r>
              <a:rPr b="1" lang="en-US" sz="4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33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your </a:t>
            </a: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AI-Powered Command Center</a:t>
            </a:r>
            <a:endParaRPr b="1" sz="33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uiding you to</a:t>
            </a:r>
            <a:r>
              <a:rPr b="1" lang="en-US" sz="33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a better future</a:t>
            </a:r>
            <a:endParaRPr sz="500"/>
          </a:p>
        </p:txBody>
      </p:sp>
      <p:sp>
        <p:nvSpPr>
          <p:cNvPr id="89" name="Google Shape;89;p13"/>
          <p:cNvSpPr txBox="1"/>
          <p:nvPr/>
        </p:nvSpPr>
        <p:spPr>
          <a:xfrm>
            <a:off x="625399" y="4439047"/>
            <a:ext cx="9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Multi-Sensory Learning &amp; Session Analysis to Empower Children with Autism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016004"/>
            <a:ext cx="255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Secure Platform For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20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Human-Centered Care &amp; Analysis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695700" y="5016004"/>
            <a:ext cx="247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Compliance Framework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FSI-Grade Vault &amp; HIPAA-Aware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3409950" y="4579441"/>
            <a:ext cx="9525" cy="419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of psychologists consulting patient. Psychotherapist examining female patient. Psychologist talks to woman about problems. (Provided by Getty Images)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13601" r="13080" t="0"/>
          <a:stretch/>
        </p:blipFill>
        <p:spPr>
          <a:xfrm>
            <a:off x="221675" y="322118"/>
            <a:ext cx="6844150" cy="6221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6000762"/>
            <a:ext cx="1104900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76300" y="6143637"/>
            <a:ext cx="10439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91B1B"/>
                </a:solidFill>
                <a:latin typeface="Lato"/>
                <a:ea typeface="Lato"/>
                <a:cs typeface="Lato"/>
                <a:sym typeface="Lato"/>
              </a:rPr>
              <a:t>Professionals should focus entirely on the child in front of them — not the clipboard.</a:t>
            </a:r>
            <a:endParaRPr sz="2000"/>
          </a:p>
        </p:txBody>
      </p:sp>
      <p:sp>
        <p:nvSpPr>
          <p:cNvPr id="101" name="Google Shape;101;p14"/>
          <p:cNvSpPr txBox="1"/>
          <p:nvPr/>
        </p:nvSpPr>
        <p:spPr>
          <a:xfrm>
            <a:off x="8832850" y="4150050"/>
            <a:ext cx="267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Subjective Data Capture</a:t>
            </a:r>
            <a:endParaRPr sz="1700"/>
          </a:p>
        </p:txBody>
      </p:sp>
      <p:sp>
        <p:nvSpPr>
          <p:cNvPr id="102" name="Google Shape;102;p14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Therapy &amp; Learning </a:t>
            </a: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Challenges </a:t>
            </a: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Today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ipboard, report, shopping list icon (Provided by Getty Images)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14647" r="0" t="9772"/>
          <a:stretch/>
        </p:blipFill>
        <p:spPr>
          <a:xfrm>
            <a:off x="7506638" y="1196037"/>
            <a:ext cx="1110477" cy="11738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eaker with sound icon vector. Isolated contour symbol illustration (Provided by Getty Images)" id="105" name="Google Shape;10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34563" y="2385659"/>
            <a:ext cx="1254625" cy="125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art Pulse Icon (Provided by Getty Images)" id="106" name="Google Shape;10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68350" y="3883571"/>
            <a:ext cx="787062" cy="787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ctor illustration of a black and white icon of an exclamation point in a triangular base (Provided by Getty Images)" id="107" name="Google Shape;107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68362" y="4996359"/>
            <a:ext cx="787052" cy="665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832850" y="5202114"/>
            <a:ext cx="267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Documentation Burnout</a:t>
            </a:r>
            <a:endParaRPr sz="1700"/>
          </a:p>
        </p:txBody>
      </p:sp>
      <p:sp>
        <p:nvSpPr>
          <p:cNvPr id="109" name="Google Shape;109;p14"/>
          <p:cNvSpPr txBox="1"/>
          <p:nvPr/>
        </p:nvSpPr>
        <p:spPr>
          <a:xfrm>
            <a:off x="8832850" y="2885913"/>
            <a:ext cx="267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Time-Intensive Data Review</a:t>
            </a:r>
            <a:endParaRPr sz="1700"/>
          </a:p>
        </p:txBody>
      </p:sp>
      <p:sp>
        <p:nvSpPr>
          <p:cNvPr id="110" name="Google Shape;110;p14"/>
          <p:cNvSpPr txBox="1"/>
          <p:nvPr/>
        </p:nvSpPr>
        <p:spPr>
          <a:xfrm>
            <a:off x="8832850" y="1621800"/>
            <a:ext cx="288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Attention Split During Session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ild, toy, little girl playing icon. Editable vector isolated on a white background (Provided by Getty Images)" id="117" name="Google Shape;11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5435" y="2366375"/>
            <a:ext cx="3276073" cy="3276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ehavioral therapy concept icon (Provided by Getty Images)" id="118" name="Google Shape;118;p15"/>
          <p:cNvPicPr preferRelativeResize="0"/>
          <p:nvPr/>
        </p:nvPicPr>
        <p:blipFill rotWithShape="1">
          <a:blip r:embed="rId6">
            <a:alphaModFix/>
          </a:blip>
          <a:srcRect b="21844" l="0" r="0" t="0"/>
          <a:stretch/>
        </p:blipFill>
        <p:spPr>
          <a:xfrm>
            <a:off x="550188" y="987000"/>
            <a:ext cx="2024950" cy="158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14375" y="571500"/>
            <a:ext cx="1145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What if we had an AI Command Center to review the data for you?</a:t>
            </a:r>
            <a:endParaRPr sz="2400"/>
          </a:p>
        </p:txBody>
      </p:sp>
      <p:sp>
        <p:nvSpPr>
          <p:cNvPr id="120" name="Google Shape;120;p15"/>
          <p:cNvSpPr txBox="1"/>
          <p:nvPr/>
        </p:nvSpPr>
        <p:spPr>
          <a:xfrm>
            <a:off x="198726" y="2449388"/>
            <a:ext cx="284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Behavioral Specialists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earning workers in company concept icon (Provided by Getty Images)" id="121" name="Google Shape;121;p15"/>
          <p:cNvPicPr preferRelativeResize="0"/>
          <p:nvPr/>
        </p:nvPicPr>
        <p:blipFill rotWithShape="1">
          <a:blip r:embed="rId7">
            <a:alphaModFix/>
          </a:blip>
          <a:srcRect b="29662" l="0" r="0" t="0"/>
          <a:stretch/>
        </p:blipFill>
        <p:spPr>
          <a:xfrm>
            <a:off x="495438" y="4522927"/>
            <a:ext cx="2249999" cy="158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0" y="5934600"/>
            <a:ext cx="342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&amp; Development Professionals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amily support concept icon. Parental care. Relatives backing. Family unity, protection, help idea thin line illustration. Vector isolated outline RGB color drawing. Editable stroke (Provided by Getty Images)" id="123" name="Google Shape;123;p15"/>
          <p:cNvPicPr preferRelativeResize="0"/>
          <p:nvPr/>
        </p:nvPicPr>
        <p:blipFill rotWithShape="1">
          <a:blip r:embed="rId8">
            <a:alphaModFix/>
          </a:blip>
          <a:srcRect b="40038" l="24261" r="18125" t="9688"/>
          <a:stretch/>
        </p:blipFill>
        <p:spPr>
          <a:xfrm>
            <a:off x="772138" y="3023038"/>
            <a:ext cx="1696573" cy="14803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98736" y="4338475"/>
            <a:ext cx="284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Parents &amp; Caregivers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house on the Coast (Provided by Getty Images)" id="125" name="Google Shape;125;p15"/>
          <p:cNvPicPr preferRelativeResize="0"/>
          <p:nvPr/>
        </p:nvPicPr>
        <p:blipFill rotWithShape="1">
          <a:blip r:embed="rId9">
            <a:alphaModFix amt="83000"/>
          </a:blip>
          <a:srcRect b="31871" l="8607" r="4542" t="12235"/>
          <a:stretch/>
        </p:blipFill>
        <p:spPr>
          <a:xfrm>
            <a:off x="6021500" y="1540950"/>
            <a:ext cx="3113299" cy="49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952975" y="1683450"/>
            <a:ext cx="3824700" cy="3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Operational Benefits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Reduce documentation time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Improve session consistency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Accelerate reporting workflows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User Impact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Better therapist engagement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Improved learner outcomes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Enhanced quality of care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Market Opportunities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Digital health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EdTech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Enterprise learning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Behavioral analytics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2212"/>
            <a:ext cx="533400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62212"/>
            <a:ext cx="53340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66775" y="2757487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Architecture &amp; Engineering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81775" y="2757487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Design &amp; Analysis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805112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>
            <a:off x="866775" y="35194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3257549"/>
            <a:ext cx="474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Mark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Core Framework &amp; Command Center Engineer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866775" y="39766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866775" y="3714750"/>
            <a:ext cx="474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Vikas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Audio Input &amp; Real-Time Stream Processing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866775" y="44338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866775" y="4171950"/>
            <a:ext cx="474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Kevin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AI Transcription &amp; Diarization Pipeline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80511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6581775" y="3186112"/>
            <a:ext cx="474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Pratha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Visual Interactive</a:t>
            </a:r>
            <a:r>
              <a:rPr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Prototype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Dashboard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6581775" y="35194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6581775" y="3643312"/>
            <a:ext cx="4743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Paloma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Bio-Acoustic Analytics &amp; Interpretation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6581775" y="39766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581775" y="4100512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Sophie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User Experience Story, Strategy &amp; Presentation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866775" y="35194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66775" y="39766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866775" y="44338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581775" y="35194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581775" y="39766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Meet Our Interdisciplinary Team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6495988" y="4471975"/>
            <a:ext cx="5152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Rajaniesh</a:t>
            </a:r>
            <a:r>
              <a:rPr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 Presentation and Visual </a:t>
            </a:r>
            <a:r>
              <a:rPr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storyTelling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2212"/>
            <a:ext cx="352425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462212"/>
            <a:ext cx="352425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462212"/>
            <a:ext cx="352425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66775" y="3300412"/>
            <a:ext cx="239029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Input &amp; Analysis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66775" y="3786187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Kevin &amp; Vikas: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Building ingestion services for low-latency voice, decibel, and frequency analysis alongside transcription.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629150" y="3300412"/>
            <a:ext cx="248031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AI Interpretation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629150" y="3786187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Paloma &amp; LLM Core: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Mapping auditory and phonetic metrics into autism-specific cognitive markers (scripting, stimming, echoes).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391525" y="3300412"/>
            <a:ext cx="285035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Display Dashboard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391525" y="3786187"/>
            <a:ext cx="2933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Pratha</a:t>
            </a:r>
            <a:r>
              <a:rPr b="1"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Mark: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Structuring a real-time, highly legible dashboard to visualize session health, triggers, and focus metrics.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2416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28241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1525" y="28241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Interdisciplinary Workstreams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76462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71500" y="2176462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Multisensory Context Extraction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04425" y="2547937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During a therapy session the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Command Center processes live metrics securely: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04875" y="3233737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Audio Intake: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Live decibel trackers identify spikes denoting sensory distress.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04875" y="3824287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Phrase Matching: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Scripting scripts are compared with historic child thresholds.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04875" y="4414837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Post-Session Output: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Auto-generated HIPAA summary is ready in seconds.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57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8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3865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714375" y="571500"/>
            <a:ext cx="1145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Therapy</a:t>
            </a: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Session Simulation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erapy Session for Kids (Provided by Getty Images)" id="192" name="Google Shape;192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53152" y="2081669"/>
            <a:ext cx="5600701" cy="3732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571500" y="3157537"/>
            <a:ext cx="4846141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92%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71500" y="4300537"/>
            <a:ext cx="48461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FSI Ingestion Rate &amp; Pipeline Accuracy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518820" y="2910333"/>
            <a:ext cx="4600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Algorithmic Engagement (E) Index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404520" y="4186237"/>
            <a:ext cx="4610100" cy="475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Weights ( ) dynamically balance attention and stimming offsets.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8641" y="3472308"/>
            <a:ext cx="5821858" cy="5234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7670" y="4445487"/>
            <a:ext cx="904875" cy="48071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Session Metric Formulations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1" name="Google Shape;211;p20"/>
          <p:cNvGraphicFramePr/>
          <p:nvPr/>
        </p:nvGraphicFramePr>
        <p:xfrm>
          <a:off x="571500" y="19954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{FA5BE258-9672-4093-A6CB-013D4AA8B020}</a:tableStyleId>
              </a:tblPr>
              <a:tblGrid>
                <a:gridCol w="2762250"/>
                <a:gridCol w="3867150"/>
                <a:gridCol w="4419600"/>
              </a:tblGrid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Service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Google Cloud 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Strategic Hackathon Application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Compute &amp; Security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Cloud Run &amp; Secret Manager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Serverless compute containerization with secure API token storage.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Ingestion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Cloud Storage &amp; Cloud 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Secure storage for audio clips; PostgreSQL for clinical session records.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Event Ingestion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Pub/Sub Messaging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Sub-millisecond event streaming between pipelines for active alerting.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 Processing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Speech-to-Text &amp; Vertex AI Gemini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Fast transcripts; LLMs identify audio stimming, echoes, and trigger cues.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20"/>
          <p:cNvSpPr/>
          <p:nvPr/>
        </p:nvSpPr>
        <p:spPr>
          <a:xfrm>
            <a:off x="571500" y="251460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3333750" y="2514600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7200900" y="251460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71500" y="3305175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333750" y="3305175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7200900" y="3305175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71500" y="409575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333750" y="4095750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7200900" y="409575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71500" y="4886325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333750" y="4886325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7200900" y="4886325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71500" y="567690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3333750" y="5676900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7200900" y="567690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Enterprise-Grade Google Cloud Stack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9787"/>
            <a:ext cx="53340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9787"/>
            <a:ext cx="533400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866775" y="2405062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Real-Time Processing Layer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866775" y="2833687"/>
            <a:ext cx="4743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audio system performs multi-layered processing during session streams: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581775" y="2405062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FSI &amp; HIPAA Analytics Store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581775" y="2833687"/>
            <a:ext cx="47434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Structured insights are saved securely for therapist dashboard rendering:</a:t>
            </a:r>
            <a:endParaRPr/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452687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866775" y="3405187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Speaker Diarization: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Separating child, therapist, and environment voices.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66775" y="4014787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Bio-Acoustics: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Recording speed, pitch tremble, and decibel fluctuations.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66775" y="4624387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Semantic Parsing: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Screening transcriptions for scripted words or echo tags.</a:t>
            </a:r>
            <a:endParaRPr/>
          </a:p>
        </p:txBody>
      </p:sp>
      <p:pic>
        <p:nvPicPr>
          <p:cNvPr descr="image.png" id="244" name="Google Shape;24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452687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6581775" y="3190875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Zero-Trust Storage: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Cloud-native isolation to prevent cross-tenant access.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581775" y="3800475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Consent Workflows: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Strict opt-in mechanics before record flags are initialized.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6581775" y="4410075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Clinical Suggestions: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Vertex AI pipeline translates summaries into suggestions.</a:t>
            </a:r>
            <a:endParaRPr/>
          </a:p>
        </p:txBody>
      </p:sp>
      <p:pic>
        <p:nvPicPr>
          <p:cNvPr descr="image.png" id="248" name="Google Shape;24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4480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405765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6672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32337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81775" y="3843337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81775" y="445293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Robust Backend &amp; Analytics Pipeline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714375" y="571500"/>
            <a:ext cx="54006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</a:t>
            </a: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Strengths</a:t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571500" y="1400175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Makes Us Unique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571500" y="1998009"/>
            <a:ext cx="55506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Multi-Sensory Synthesis: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Rather than  voice-to-text, our software correlates speech tone dynamics with emotional markers simultaneously.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571500" y="2715750"/>
            <a:ext cx="55506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FSI Security Standards: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Built with zero-trust storage components, implementing robust isolation parameters and fully auditable secure logs.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515465" y="3410400"/>
            <a:ext cx="52863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Human-Centric Focus: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Supporting the clinician, keeping them connected with the child, and removing clipboard distractions.</a:t>
            </a:r>
            <a:endParaRPr/>
          </a:p>
        </p:txBody>
      </p:sp>
      <p:pic>
        <p:nvPicPr>
          <p:cNvPr id="267" name="Google Shape;267;p22"/>
          <p:cNvPicPr preferRelativeResize="0"/>
          <p:nvPr/>
        </p:nvPicPr>
        <p:blipFill rotWithShape="1">
          <a:blip r:embed="rId4">
            <a:alphaModFix/>
          </a:blip>
          <a:srcRect b="0" l="26205" r="0" t="0"/>
          <a:stretch/>
        </p:blipFill>
        <p:spPr>
          <a:xfrm>
            <a:off x="6210300" y="793438"/>
            <a:ext cx="5921126" cy="52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904875" y="2986087"/>
            <a:ext cx="10715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FSI Encrypted Vaults: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Every single record is encrypted at rest and in transit using hardware keys monitored by Google Cloud Security tools.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904875" y="3414712"/>
            <a:ext cx="10715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Privacy First &amp; Explicit Consent: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Multi-stakeholder digital keys must be provided to initiate live processing or archive logs.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904875" y="3843337"/>
            <a:ext cx="10715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Human-In-The-Loop (HITL):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AI algorithms suggest therapy reports but clinicians retain complete review, override, and submission control.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904875" y="4271962"/>
            <a:ext cx="10715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Automated PII Redaction: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Identifying details are scrubbed locally before analysis requests proceed to LLM processors.</a:t>
            </a:r>
            <a:endParaRPr/>
          </a:p>
        </p:txBody>
      </p:sp>
      <p:pic>
        <p:nvPicPr>
          <p:cNvPr descr="image.png" id="277" name="Google Shape;27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99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3852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6715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95775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Ethical Safeguards &amp; Secure Guardrails</a:t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8" name="Google Shape;288;p24"/>
          <p:cNvGraphicFramePr/>
          <p:nvPr/>
        </p:nvGraphicFramePr>
        <p:xfrm>
          <a:off x="571500" y="2390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{FA5BE258-9672-4093-A6CB-013D4AA8B020}</a:tableStyleId>
              </a:tblPr>
              <a:tblGrid>
                <a:gridCol w="3314700"/>
                <a:gridCol w="4419600"/>
                <a:gridCol w="3314700"/>
              </a:tblGrid>
              <a:tr h="72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Product 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Core Feature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 Benefit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2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Functional MVP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Secure audio upload</a:t>
                      </a:r>
                      <a:r>
                        <a:rPr lang="en-US" sz="13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along with upload  </a:t>
                      </a:r>
                      <a:r>
                        <a:rPr lang="en-US" sz="13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history</a:t>
                      </a: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, pipeline diarization, and clinical dashboard indicators.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Immediate post-session summary templates.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Stretch 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Enterprise Analytics Suite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Interactive dashboard support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Roadmap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Longitudinal session trend visualizer with adaptive child threshold modeling.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Long-term therapeutic validation.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9" name="Google Shape;289;p24"/>
          <p:cNvSpPr/>
          <p:nvPr/>
        </p:nvSpPr>
        <p:spPr>
          <a:xfrm>
            <a:off x="571500" y="290988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3886200" y="2909887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8305800" y="290988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571500" y="370046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3886200" y="3700462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8305800" y="370046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571500" y="449103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3886200" y="4491037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8305800" y="449103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571500" y="528161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3886200" y="5281612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8305800" y="528161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Current MVP Scope vs. Roadmap</a:t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/>
          <p:nvPr/>
        </p:nvSpPr>
        <p:spPr>
          <a:xfrm>
            <a:off x="571500" y="4014787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692188" y="3525662"/>
            <a:ext cx="23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Q2 - Hackathon MVP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3503908" y="3580412"/>
            <a:ext cx="23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Q3 - Integrations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3585832" y="4257281"/>
            <a:ext cx="2236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Deploy smart API endpoints and dashboard modules into existing clinical CRM suites.</a:t>
            </a:r>
            <a:endParaRPr sz="1500"/>
          </a:p>
        </p:txBody>
      </p:sp>
      <p:sp>
        <p:nvSpPr>
          <p:cNvPr id="312" name="Google Shape;312;p25"/>
          <p:cNvSpPr txBox="1"/>
          <p:nvPr/>
        </p:nvSpPr>
        <p:spPr>
          <a:xfrm>
            <a:off x="6367703" y="3557187"/>
            <a:ext cx="23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Q4 - Smart Feedback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6423639" y="4279487"/>
            <a:ext cx="2236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Deliver AI therapist recommendations, visual charts, and trend metrics.</a:t>
            </a:r>
            <a:endParaRPr sz="1500"/>
          </a:p>
        </p:txBody>
      </p:sp>
      <p:sp>
        <p:nvSpPr>
          <p:cNvPr id="314" name="Google Shape;314;p25"/>
          <p:cNvSpPr txBox="1"/>
          <p:nvPr/>
        </p:nvSpPr>
        <p:spPr>
          <a:xfrm>
            <a:off x="9231498" y="3553037"/>
            <a:ext cx="23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2027 - Scaling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9261484" y="4283637"/>
            <a:ext cx="2236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Enterprise deployments in specialized schools and pediatric systems globally.</a:t>
            </a:r>
            <a:endParaRPr sz="1500"/>
          </a:p>
        </p:txBody>
      </p:sp>
      <p:sp>
        <p:nvSpPr>
          <p:cNvPr id="316" name="Google Shape;316;p25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Strategic System Growth Roadmap</a:t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1746870" y="39385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4582790" y="39385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7418709" y="39385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10254629" y="39385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656153" y="4090975"/>
            <a:ext cx="2236500" cy="1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Establish essential Google Cloud streaming framework and speech-to-text transcriptions.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518583" y="3254375"/>
            <a:ext cx="2660100" cy="2018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3374035" y="3254375"/>
            <a:ext cx="2660100" cy="2018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9049672" y="3252938"/>
            <a:ext cx="2660100" cy="2018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6211860" y="3252956"/>
            <a:ext cx="2660100" cy="2018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5275" y="4528312"/>
            <a:ext cx="3877900" cy="199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06025" y="1115412"/>
            <a:ext cx="16764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6"/>
          <p:cNvSpPr txBox="1"/>
          <p:nvPr/>
        </p:nvSpPr>
        <p:spPr>
          <a:xfrm>
            <a:off x="295275" y="1479262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Keep Professionals Human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1414250" y="2498038"/>
            <a:ext cx="10026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chemeClr val="dk1"/>
                </a:solidFill>
              </a:rPr>
              <a:t>Our AI Command Center transforms therapy and learning sessions into measurable,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actionable insights — allowing professionals to focus on people, not paperwork.</a:t>
            </a:r>
            <a:endParaRPr sz="2300"/>
          </a:p>
        </p:txBody>
      </p:sp>
      <p:sp>
        <p:nvSpPr>
          <p:cNvPr id="336" name="Google Shape;336;p26"/>
          <p:cNvSpPr txBox="1"/>
          <p:nvPr/>
        </p:nvSpPr>
        <p:spPr>
          <a:xfrm>
            <a:off x="5367875" y="5373875"/>
            <a:ext cx="135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sz="2200"/>
          </a:p>
        </p:txBody>
      </p:sp>
      <p:sp>
        <p:nvSpPr>
          <p:cNvPr id="337" name="Google Shape;337;p26"/>
          <p:cNvSpPr txBox="1"/>
          <p:nvPr/>
        </p:nvSpPr>
        <p:spPr>
          <a:xfrm>
            <a:off x="4933025" y="5719750"/>
            <a:ext cx="2222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Open Floor Discussion</a:t>
            </a:r>
            <a:endParaRPr sz="2100"/>
          </a:p>
        </p:txBody>
      </p:sp>
      <p:pic>
        <p:nvPicPr>
          <p:cNvPr descr="Query Icon (Provided by Getty Images)" id="338" name="Google Shape;33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6025" y="3748075"/>
            <a:ext cx="1676401" cy="167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